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6" r:id="rId16"/>
    <p:sldId id="277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217920" y="1417319"/>
            <a:ext cx="3657600" cy="3657600"/>
          </a:xfrm>
          <a:prstGeom prst="ellipse">
            <a:avLst/>
          </a:prstGeom>
          <a:noFill/>
          <a:ln w="19050">
            <a:solidFill>
              <a:srgbClr val="009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0" y="1783079"/>
            <a:ext cx="2926080" cy="2926080"/>
          </a:xfrm>
          <a:prstGeom prst="ellipse">
            <a:avLst/>
          </a:prstGeom>
          <a:noFill/>
          <a:ln w="19050">
            <a:solidFill>
              <a:srgbClr val="009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949440" y="2148839"/>
            <a:ext cx="2194560" cy="2194560"/>
          </a:xfrm>
          <a:prstGeom prst="ellipse">
            <a:avLst/>
          </a:prstGeom>
          <a:noFill/>
          <a:ln w="19050">
            <a:solidFill>
              <a:srgbClr val="009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7040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AI-POWERED ADAPTIVE</a:t>
            </a:r>
            <a:br/>
            <a:r>
              <a:t>MULTI-FACTOR AUTHENTICATION</a:t>
            </a:r>
            <a:br/>
            <a:r>
              <a:t>AND ACCESS CONTROL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9718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CD6"/>
                </a:solidFill>
              </a:defRPr>
            </a:pPr>
            <a:r>
              <a:t>SOA PROJECT REVIEW –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94760"/>
            <a:ext cx="65836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Team Members: Kvv Ganesh – 2420030650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Nabi Rasool – 2420030408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Sai Teja – 2420030008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Under the Guidance of Venkateswari Ketineni, Assistant Professor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C"/>
                </a:solidFill>
                <a:latin typeface="Aptos"/>
              </a:defRPr>
            </a:pPr>
            <a:r>
              <a:t>SOA Project Review – 2   |   AI-Powered Adaptive MFA &amp; Access Control System   |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9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040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7C"/>
                </a:solidFill>
                <a:latin typeface="Aptos"/>
              </a:defRPr>
            </a:pPr>
            <a:r>
              <a:t>What has been implemented since Review-1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3429000" cy="17830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73152" cy="1783080"/>
          </a:xfrm>
          <a:prstGeom prst="rect">
            <a:avLst/>
          </a:prstGeom>
          <a:solidFill>
            <a:srgbClr val="12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44168"/>
            <a:ext cx="31363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Credential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37360"/>
            <a:ext cx="3136392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D3A"/>
                </a:solidFill>
                <a:latin typeface="Aptos"/>
              </a:defRPr>
            </a:pPr>
            <a:r>
              <a:t>Username/password verification with password hashing and account-security controls.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429000" cy="17830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73152" cy="1783080"/>
          </a:xfrm>
          <a:prstGeom prst="rect">
            <a:avLst/>
          </a:prstGeom>
          <a:solidFill>
            <a:srgbClr val="00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344168"/>
            <a:ext cx="31363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Contextual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737360"/>
            <a:ext cx="3136392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D3A"/>
                </a:solidFill>
                <a:latin typeface="Aptos"/>
              </a:defRPr>
            </a:pPr>
            <a:r>
              <a:t>Device trust, location trust, login-time behavior and failed-attempt history.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34440"/>
            <a:ext cx="3429000" cy="17830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73152" cy="1783080"/>
          </a:xfrm>
          <a:prstGeom prst="rect">
            <a:avLst/>
          </a:prstGeom>
          <a:solidFill>
            <a:srgbClr val="26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1344168"/>
            <a:ext cx="31363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Adaptive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737360"/>
            <a:ext cx="3136392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D3A"/>
                </a:solidFill>
                <a:latin typeface="Aptos"/>
              </a:defRPr>
            </a:pPr>
            <a:r>
              <a:t>LOW → allow, MEDIUM → step-up MFA, HIGH → deny.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3429000" cy="17830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3383280"/>
            <a:ext cx="73152" cy="1783080"/>
          </a:xfrm>
          <a:prstGeom prst="rect">
            <a:avLst/>
          </a:prstGeom>
          <a:solidFill>
            <a:srgbClr val="E7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3493008"/>
            <a:ext cx="31363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AI Risk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886200"/>
            <a:ext cx="3136392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D3A"/>
                </a:solidFill>
                <a:latin typeface="Aptos"/>
              </a:defRPr>
            </a:pPr>
            <a:r>
              <a:t>Spring Boot communicates with a FastAPI Random Forest service for AI risk prediction.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383280"/>
            <a:ext cx="3429000" cy="17830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3383280"/>
            <a:ext cx="73152" cy="1783080"/>
          </a:xfrm>
          <a:prstGeom prst="rect">
            <a:avLst/>
          </a:prstGeom>
          <a:solidFill>
            <a:srgbClr val="12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07992" y="3493008"/>
            <a:ext cx="31363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Persistence &amp; 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3886200"/>
            <a:ext cx="3136392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D3A"/>
                </a:solidFill>
                <a:latin typeface="Aptos"/>
              </a:defRPr>
            </a:pPr>
            <a:r>
              <a:t>PostgreSQL stores users/security state and authentication/audit evidence.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383280"/>
            <a:ext cx="3429000" cy="17830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38160" y="3383280"/>
            <a:ext cx="73152" cy="1783080"/>
          </a:xfrm>
          <a:prstGeom prst="rect">
            <a:avLst/>
          </a:prstGeom>
          <a:solidFill>
            <a:srgbClr val="00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02752" y="3493008"/>
            <a:ext cx="31363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React Frontend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886200"/>
            <a:ext cx="3136392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D3A"/>
                </a:solidFill>
                <a:latin typeface="Aptos"/>
              </a:defRPr>
            </a:pPr>
            <a:r>
              <a:t>Login, MFA verification, security dashboard and trusted-factor management.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C"/>
                </a:solidFill>
                <a:latin typeface="Aptos"/>
              </a:defRPr>
            </a:pPr>
            <a:r>
              <a:t>SOA Project Review – 2   |   AI-Powered Adaptive MFA &amp; Access Control System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9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Review-1 → Review-2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4663440" cy="502920"/>
          </a:xfrm>
          <a:prstGeom prst="roundRect">
            <a:avLst/>
          </a:prstGeom>
          <a:solidFill>
            <a:srgbClr val="092A4C"/>
          </a:solidFill>
          <a:ln w="19050">
            <a:solidFill>
              <a:srgbClr val="092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216152"/>
            <a:ext cx="4517136" cy="3566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Feature /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79" y="1143000"/>
            <a:ext cx="2286000" cy="502920"/>
          </a:xfrm>
          <a:prstGeom prst="roundRect">
            <a:avLst/>
          </a:prstGeom>
          <a:solidFill>
            <a:srgbClr val="092A4C"/>
          </a:solidFill>
          <a:ln w="19050">
            <a:solidFill>
              <a:srgbClr val="092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85231" y="1216152"/>
            <a:ext cx="2139696" cy="3566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Review-1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143000"/>
            <a:ext cx="4114800" cy="502920"/>
          </a:xfrm>
          <a:prstGeom prst="roundRect">
            <a:avLst/>
          </a:prstGeom>
          <a:solidFill>
            <a:srgbClr val="092A4C"/>
          </a:solidFill>
          <a:ln w="19050">
            <a:solidFill>
              <a:srgbClr val="092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71231" y="1216152"/>
            <a:ext cx="3968496" cy="3566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Review-2 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09928"/>
            <a:ext cx="4663440" cy="429768"/>
          </a:xfrm>
          <a:prstGeom prst="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D3A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79" y="1709928"/>
            <a:ext cx="2286000" cy="429768"/>
          </a:xfrm>
          <a:prstGeom prst="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D3A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709928"/>
            <a:ext cx="4114800" cy="429768"/>
          </a:xfrm>
          <a:prstGeom prst="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6915B"/>
                </a:solidFill>
                <a:latin typeface="Aptos"/>
              </a:defRPr>
            </a:pPr>
            <a:r>
              <a:t>Implemented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57984"/>
            <a:ext cx="466344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D3A"/>
                </a:solidFill>
                <a:latin typeface="Aptos"/>
              </a:defRPr>
            </a:pPr>
            <a:r>
              <a:t>Spring Boot backend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2157984"/>
            <a:ext cx="228600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D3A"/>
                </a:solidFill>
                <a:latin typeface="Aptos"/>
              </a:defRPr>
            </a:pPr>
            <a:r>
              <a:t>Planned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2157984"/>
            <a:ext cx="411480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6915B"/>
                </a:solidFill>
                <a:latin typeface="Aptos"/>
              </a:defRPr>
            </a:pPr>
            <a:r>
              <a:t>Implemented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06040"/>
            <a:ext cx="4663440" cy="429768"/>
          </a:xfrm>
          <a:prstGeom prst="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D3A"/>
                </a:solidFill>
                <a:latin typeface="Aptos"/>
              </a:defRPr>
            </a:pPr>
            <a:r>
              <a:t>Adaptive risk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79" y="2606040"/>
            <a:ext cx="2286000" cy="429768"/>
          </a:xfrm>
          <a:prstGeom prst="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D3A"/>
                </a:solidFill>
                <a:latin typeface="Aptos"/>
              </a:defRPr>
            </a:pPr>
            <a:r>
              <a:t>Proposed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2606040"/>
            <a:ext cx="4114800" cy="429768"/>
          </a:xfrm>
          <a:prstGeom prst="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6915B"/>
                </a:solidFill>
                <a:latin typeface="Aptos"/>
              </a:defRPr>
            </a:pPr>
            <a:r>
              <a:t>Implemented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54096"/>
            <a:ext cx="466344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D3A"/>
                </a:solidFill>
                <a:latin typeface="Aptos"/>
              </a:defRPr>
            </a:pPr>
            <a:r>
              <a:t>MFA + access decisions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79" y="3054096"/>
            <a:ext cx="228600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D3A"/>
                </a:solidFill>
                <a:latin typeface="Aptos"/>
              </a:defRPr>
            </a:pPr>
            <a:r>
              <a:t>Planned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3054096"/>
            <a:ext cx="411480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6915B"/>
                </a:solidFill>
                <a:latin typeface="Aptos"/>
              </a:defRPr>
            </a:pPr>
            <a:r>
              <a:t>Implemented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02152"/>
            <a:ext cx="4663440" cy="429768"/>
          </a:xfrm>
          <a:prstGeom prst="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D3A"/>
                </a:solidFill>
                <a:latin typeface="Aptos"/>
              </a:defRPr>
            </a:pPr>
            <a:r>
              <a:t>PostgreSQL persistence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79" y="3502152"/>
            <a:ext cx="2286000" cy="429768"/>
          </a:xfrm>
          <a:prstGeom prst="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D3A"/>
                </a:solidFill>
                <a:latin typeface="Aptos"/>
              </a:defRPr>
            </a:pPr>
            <a:r>
              <a:t>Planned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3502152"/>
            <a:ext cx="4114800" cy="429768"/>
          </a:xfrm>
          <a:prstGeom prst="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6915B"/>
                </a:solidFill>
                <a:latin typeface="Aptos"/>
              </a:defRPr>
            </a:pPr>
            <a:r>
              <a:t>Implemented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50208"/>
            <a:ext cx="466344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D3A"/>
                </a:solidFill>
                <a:latin typeface="Aptos"/>
              </a:defRPr>
            </a:pPr>
            <a:r>
              <a:t>Audit logging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79" y="3950208"/>
            <a:ext cx="228600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D3A"/>
                </a:solidFill>
                <a:latin typeface="Aptos"/>
              </a:defRPr>
            </a:pPr>
            <a:r>
              <a:t>Planned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3950208"/>
            <a:ext cx="411480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6915B"/>
                </a:solidFill>
                <a:latin typeface="Aptos"/>
              </a:defRPr>
            </a:pPr>
            <a:r>
              <a:t>Implemented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98264"/>
            <a:ext cx="4663440" cy="429768"/>
          </a:xfrm>
          <a:prstGeom prst="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D3A"/>
                </a:solidFill>
                <a:latin typeface="Aptos"/>
              </a:defRPr>
            </a:pPr>
            <a:r>
              <a:t>React frontend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79" y="4398264"/>
            <a:ext cx="2286000" cy="429768"/>
          </a:xfrm>
          <a:prstGeom prst="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D3A"/>
                </a:solidFill>
                <a:latin typeface="Aptos"/>
              </a:defRPr>
            </a:pPr>
            <a:r>
              <a:t>Future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4398264"/>
            <a:ext cx="4114800" cy="429768"/>
          </a:xfrm>
          <a:prstGeom prst="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6915B"/>
                </a:solidFill>
                <a:latin typeface="Aptos"/>
              </a:defRPr>
            </a:pPr>
            <a:r>
              <a:t>Implemented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846320"/>
            <a:ext cx="466344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D3A"/>
                </a:solidFill>
                <a:latin typeface="Aptos"/>
              </a:defRPr>
            </a:pPr>
            <a:r>
              <a:t>Security dashboard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79" y="4846320"/>
            <a:ext cx="228600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D3A"/>
                </a:solidFill>
                <a:latin typeface="Aptos"/>
              </a:defRPr>
            </a:pPr>
            <a:r>
              <a:t>Future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4846320"/>
            <a:ext cx="411480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6915B"/>
                </a:solidFill>
                <a:latin typeface="Aptos"/>
              </a:defRPr>
            </a:pPr>
            <a:r>
              <a:t>Implemented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294376"/>
            <a:ext cx="4663440" cy="429768"/>
          </a:xfrm>
          <a:prstGeom prst="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D3A"/>
                </a:solidFill>
                <a:latin typeface="Aptos"/>
              </a:defRPr>
            </a:pPr>
            <a:r>
              <a:t>Random Forest AI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79" y="5294376"/>
            <a:ext cx="2286000" cy="429768"/>
          </a:xfrm>
          <a:prstGeom prst="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D3A"/>
                </a:solidFill>
                <a:latin typeface="Aptos"/>
              </a:defRPr>
            </a:pPr>
            <a:r>
              <a:t>Future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5294376"/>
            <a:ext cx="4114800" cy="429768"/>
          </a:xfrm>
          <a:prstGeom prst="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D3A"/>
                </a:solidFill>
                <a:latin typeface="Aptos"/>
              </a:defRPr>
            </a:pPr>
            <a:r>
              <a:t>Integrated / in progress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742432"/>
            <a:ext cx="466344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D3A"/>
                </a:solidFill>
                <a:latin typeface="Aptos"/>
              </a:defRPr>
            </a:pPr>
            <a:r>
              <a:t>DevSecOps CI/CD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79" y="5742432"/>
            <a:ext cx="228600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D3A"/>
                </a:solidFill>
                <a:latin typeface="Aptos"/>
              </a:defRPr>
            </a:pPr>
            <a:r>
              <a:t>Future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5742432"/>
            <a:ext cx="411480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D3A"/>
                </a:solidFill>
                <a:latin typeface="Aptos"/>
              </a:defRPr>
            </a:pPr>
            <a:r>
              <a:t>Pending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C"/>
                </a:solidFill>
                <a:latin typeface="Aptos"/>
              </a:defRPr>
            </a:pPr>
            <a:r>
              <a:t>SOA Project Review – 2   |   AI-Powered Adaptive MFA &amp; Access Control System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9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Updated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011680" cy="731520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009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1399032"/>
            <a:ext cx="186537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092A4C"/>
                </a:solidFill>
                <a:latin typeface="Aptos"/>
              </a:defRPr>
            </a:pPr>
            <a:r>
              <a:t>React 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325880"/>
            <a:ext cx="2377440" cy="731520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26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65192" y="1399032"/>
            <a:ext cx="223113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092A4C"/>
                </a:solidFill>
                <a:latin typeface="Aptos"/>
              </a:defRPr>
            </a:pPr>
            <a:r>
              <a:t>Spring Boot Backend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325880"/>
            <a:ext cx="2240280" cy="731520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E7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00032" y="1399032"/>
            <a:ext cx="209397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092A4C"/>
                </a:solidFill>
                <a:latin typeface="Aptos"/>
              </a:defRPr>
            </a:pPr>
            <a:r>
              <a:t>FastAPI + Random Forest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14600" y="1691640"/>
            <a:ext cx="2331720" cy="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296912" y="1691640"/>
            <a:ext cx="1984248" cy="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2743200"/>
            <a:ext cx="2057400" cy="685800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12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1" y="2816352"/>
            <a:ext cx="1911095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092A4C"/>
                </a:solidFill>
                <a:latin typeface="Aptos"/>
              </a:defRPr>
            </a:pPr>
            <a:r>
              <a:t>AuthenticationService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2743200"/>
            <a:ext cx="2057400" cy="685800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12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36392" y="2816352"/>
            <a:ext cx="1911095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092A4C"/>
                </a:solidFill>
                <a:latin typeface="Aptos"/>
              </a:defRPr>
            </a:pPr>
            <a:r>
              <a:t>RiskAssessmentService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2743200"/>
            <a:ext cx="2057400" cy="685800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12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59552" y="2816352"/>
            <a:ext cx="1911095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092A4C"/>
                </a:solidFill>
                <a:latin typeface="Aptos"/>
              </a:defRPr>
            </a:pPr>
            <a:r>
              <a:t>MFAService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2743200"/>
            <a:ext cx="2057400" cy="685800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12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82712" y="2816352"/>
            <a:ext cx="1911095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092A4C"/>
                </a:solidFill>
                <a:latin typeface="Aptos"/>
              </a:defRPr>
            </a:pPr>
            <a:r>
              <a:t>AuditLogService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645920" y="2084831"/>
            <a:ext cx="4434840" cy="612649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069080" y="2084831"/>
            <a:ext cx="2011680" cy="612649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80760" y="2084831"/>
            <a:ext cx="411480" cy="612649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80760" y="2084831"/>
            <a:ext cx="2834640" cy="612649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663440" y="4572000"/>
            <a:ext cx="2743200" cy="777240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12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36592" y="4645152"/>
            <a:ext cx="2596896" cy="6309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092A4C"/>
                </a:solidFill>
                <a:latin typeface="Aptos"/>
              </a:defRPr>
            </a:pPr>
            <a:r>
              <a:t>PostgreSQL Database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645920" y="3429000"/>
            <a:ext cx="4389120" cy="109728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069080" y="3429000"/>
            <a:ext cx="1965960" cy="109728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6035040" y="3429000"/>
            <a:ext cx="457200" cy="109728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035040" y="3429000"/>
            <a:ext cx="2880360" cy="109728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C"/>
                </a:solidFill>
                <a:latin typeface="Aptos"/>
              </a:defRPr>
            </a:pPr>
            <a:r>
              <a:t>SOA Project Review – 2   |   AI-Powered Adaptive MFA &amp; Access Control System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9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Dataset &amp; Feature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040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7C"/>
                </a:solidFill>
                <a:latin typeface="Aptos"/>
              </a:defRPr>
            </a:pPr>
            <a:r>
              <a:rPr dirty="0"/>
              <a:t>AI model input schema used by the </a:t>
            </a:r>
            <a:r>
              <a:rPr dirty="0" err="1"/>
              <a:t>FastAPI</a:t>
            </a:r>
            <a:r>
              <a:rPr dirty="0"/>
              <a:t> prediction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3429000" cy="192024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73152" cy="1920240"/>
          </a:xfrm>
          <a:prstGeom prst="rect">
            <a:avLst/>
          </a:prstGeom>
          <a:solidFill>
            <a:srgbClr val="12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252728"/>
            <a:ext cx="31363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Dataset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45920"/>
            <a:ext cx="313639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D3A"/>
                </a:solidFill>
                <a:latin typeface="Aptos"/>
              </a:defRPr>
            </a:pPr>
            <a:r>
              <a:t>Authentication-login records are used to learn a mapping from security context to a risk class. The available project materials document the feature schema, but do not provide a verified dataset source, row count or class distribution.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143000"/>
            <a:ext cx="3429000" cy="192024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0520" y="1143000"/>
            <a:ext cx="73152" cy="1920240"/>
          </a:xfrm>
          <a:prstGeom prst="rect">
            <a:avLst/>
          </a:prstGeom>
          <a:solidFill>
            <a:srgbClr val="00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5112" y="1252728"/>
            <a:ext cx="31363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Input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1645920"/>
            <a:ext cx="313639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02D3A"/>
                </a:solidFill>
                <a:latin typeface="Aptos"/>
              </a:defRPr>
            </a:pPr>
            <a:r>
              <a:t>• failed_attempts</a:t>
            </a:r>
            <a:br/>
            <a:r>
              <a:t>• trusted_device</a:t>
            </a:r>
            <a:br/>
            <a:r>
              <a:t>• trusted_location</a:t>
            </a:r>
            <a:br/>
            <a:r>
              <a:t>• unusual_time</a:t>
            </a:r>
            <a:br/>
            <a:r>
              <a:t>• password_failed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143000"/>
            <a:ext cx="3840480" cy="192024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0" y="1143000"/>
            <a:ext cx="73152" cy="1920240"/>
          </a:xfrm>
          <a:prstGeom prst="rect">
            <a:avLst/>
          </a:prstGeom>
          <a:solidFill>
            <a:srgbClr val="E7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36992" y="1252728"/>
            <a:ext cx="3547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1645920"/>
            <a:ext cx="354787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D3A"/>
                </a:solidFill>
                <a:latin typeface="Aptos"/>
              </a:defRPr>
            </a:pPr>
            <a:r>
              <a:t>Risk class / AI risk output</a:t>
            </a:r>
            <a:br/>
            <a:br/>
            <a:r>
              <a:t>LOW</a:t>
            </a:r>
            <a:br/>
            <a:r>
              <a:t>MEDIUM</a:t>
            </a:r>
            <a:br/>
            <a:r>
              <a:t>HIGH</a:t>
            </a:r>
            <a:br/>
            <a:br/>
            <a:r>
              <a:t>The exact training-label distribution should be reported from the actual training dataset.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94760"/>
            <a:ext cx="1920240" cy="685800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12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867912"/>
            <a:ext cx="1773936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092A4C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3794760"/>
            <a:ext cx="2194560" cy="685800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009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36392" y="3867912"/>
            <a:ext cx="2048255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092A4C"/>
                </a:solidFill>
                <a:latin typeface="Aptos"/>
              </a:defRPr>
            </a:pPr>
            <a:r>
              <a:rPr dirty="0"/>
              <a:t>Feature Preparation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0" y="3794760"/>
            <a:ext cx="2103120" cy="685800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12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50992" y="3867912"/>
            <a:ext cx="1956815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092A4C"/>
                </a:solidFill>
                <a:latin typeface="Aptos"/>
              </a:defRPr>
            </a:pPr>
            <a:r>
              <a:t>Train / 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3794760"/>
            <a:ext cx="2286000" cy="685800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26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82712" y="3867912"/>
            <a:ext cx="2139696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092A4C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24160" y="3794760"/>
            <a:ext cx="1097280" cy="685800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E7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97312" y="3867912"/>
            <a:ext cx="950976" cy="5394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092A4C"/>
                </a:solidFill>
                <a:latin typeface="Aptos"/>
              </a:defRPr>
            </a:pPr>
            <a:r>
              <a:t>Risk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743200" y="4133087"/>
            <a:ext cx="320040" cy="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257800" y="4133087"/>
            <a:ext cx="320040" cy="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80960" y="4133087"/>
            <a:ext cx="228600" cy="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195560" y="4133087"/>
            <a:ext cx="228600" cy="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C"/>
                </a:solidFill>
                <a:latin typeface="Aptos"/>
              </a:defRPr>
            </a:pPr>
            <a:r>
              <a:t>SOA Project Review – 2   |   AI-Powered Adaptive MFA &amp; Access Control System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9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AI/ML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040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7C"/>
                </a:solidFill>
                <a:latin typeface="Aptos"/>
              </a:defRPr>
            </a:pPr>
            <a:r>
              <a:t>Random Forest model exposed through FastAPI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965960" cy="182880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73152" cy="1828800"/>
          </a:xfrm>
          <a:prstGeom prst="rect">
            <a:avLst/>
          </a:prstGeom>
          <a:solidFill>
            <a:srgbClr val="12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938528"/>
            <a:ext cx="167335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31720"/>
            <a:ext cx="1673351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D3A"/>
                </a:solidFill>
                <a:latin typeface="Aptos"/>
              </a:defRPr>
            </a:pPr>
            <a:r>
              <a:t>5 security features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743200"/>
            <a:ext cx="274320" cy="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98648" y="1828800"/>
            <a:ext cx="1965960" cy="182880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98648" y="1828800"/>
            <a:ext cx="73152" cy="1828800"/>
          </a:xfrm>
          <a:prstGeom prst="rect">
            <a:avLst/>
          </a:prstGeom>
          <a:solidFill>
            <a:srgbClr val="00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63240" y="1938528"/>
            <a:ext cx="167335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Preprocess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331720"/>
            <a:ext cx="1673351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D3A"/>
                </a:solidFill>
                <a:latin typeface="Aptos"/>
              </a:defRPr>
            </a:pPr>
            <a:r>
              <a:t>Prepare numeric features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64608" y="2743200"/>
            <a:ext cx="274320" cy="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02936" y="1828800"/>
            <a:ext cx="1965960" cy="182880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02936" y="1828800"/>
            <a:ext cx="73152" cy="1828800"/>
          </a:xfrm>
          <a:prstGeom prst="rect">
            <a:avLst/>
          </a:prstGeom>
          <a:solidFill>
            <a:srgbClr val="26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67528" y="1938528"/>
            <a:ext cx="167335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Train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2331720"/>
            <a:ext cx="1673351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D3A"/>
                </a:solidFill>
                <a:latin typeface="Aptos"/>
              </a:defRPr>
            </a:pPr>
            <a:r>
              <a:t>Random Forest classifier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68896" y="2743200"/>
            <a:ext cx="274320" cy="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507224" y="1828800"/>
            <a:ext cx="1965960" cy="182880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07224" y="1828800"/>
            <a:ext cx="73152" cy="1828800"/>
          </a:xfrm>
          <a:prstGeom prst="rect">
            <a:avLst/>
          </a:prstGeom>
          <a:solidFill>
            <a:srgbClr val="E7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71816" y="1938528"/>
            <a:ext cx="167335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Predict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71816" y="2331720"/>
            <a:ext cx="1673351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D3A"/>
                </a:solidFill>
                <a:latin typeface="Aptos"/>
              </a:defRPr>
            </a:pPr>
            <a:r>
              <a:t>Risk + probabilities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73184" y="2743200"/>
            <a:ext cx="274320" cy="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11512" y="1828800"/>
            <a:ext cx="1965960" cy="182880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11512" y="1828800"/>
            <a:ext cx="73152" cy="1828800"/>
          </a:xfrm>
          <a:prstGeom prst="rect">
            <a:avLst/>
          </a:prstGeom>
          <a:solidFill>
            <a:srgbClr val="12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76104" y="1938528"/>
            <a:ext cx="167335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Integrate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6104" y="2331720"/>
            <a:ext cx="1673351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D3A"/>
                </a:solidFill>
                <a:latin typeface="Aptos"/>
              </a:defRPr>
            </a:pPr>
            <a:r>
              <a:t>Spring Boot AIService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343400"/>
            <a:ext cx="10149840" cy="105156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400" y="4343400"/>
            <a:ext cx="73152" cy="1051560"/>
          </a:xfrm>
          <a:prstGeom prst="rect">
            <a:avLst/>
          </a:prstGeom>
          <a:solidFill>
            <a:srgbClr val="12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78992" y="4453128"/>
            <a:ext cx="9857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Current Java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4846320"/>
            <a:ext cx="9857232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02D3A"/>
                </a:solidFill>
                <a:latin typeface="Aptos"/>
              </a:defRPr>
            </a:pPr>
            <a:r>
              <a:t>AIService serializes AIPredictionRequest → POST http://127.0.0.1:8000/predict → reads the FastAPI response → returns AI prediction data to the risk layer.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C"/>
                </a:solidFill>
                <a:latin typeface="Aptos"/>
              </a:defRPr>
            </a:pPr>
            <a:r>
              <a:t>SOA Project Review – 2   |   AI-Powered Adaptive MFA &amp; Access Control System   |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9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Adaptive Risk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040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7C"/>
                </a:solidFill>
                <a:latin typeface="Aptos"/>
              </a:defRPr>
            </a:pPr>
            <a:r>
              <a:t>Transparent rule score + AI risk are available to the decision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2286000" cy="530352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12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1170432"/>
            <a:ext cx="2139696" cy="38404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092A4C"/>
                </a:solidFill>
                <a:latin typeface="Aptos"/>
              </a:defRPr>
            </a:pPr>
            <a:r>
              <a:t>Failed attempts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2286000" cy="530352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12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883664"/>
            <a:ext cx="2139696" cy="38404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092A4C"/>
                </a:solidFill>
                <a:latin typeface="Aptos"/>
              </a:defRPr>
            </a:pPr>
            <a:r>
              <a:t>Trusted device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23744"/>
            <a:ext cx="2286000" cy="530352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12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2596896"/>
            <a:ext cx="2139696" cy="38404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092A4C"/>
                </a:solidFill>
                <a:latin typeface="Aptos"/>
              </a:defRPr>
            </a:pPr>
            <a:r>
              <a:t>Trusted location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36976"/>
            <a:ext cx="2286000" cy="530352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12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" y="3310128"/>
            <a:ext cx="2139696" cy="38404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092A4C"/>
                </a:solidFill>
                <a:latin typeface="Aptos"/>
              </a:defRPr>
            </a:pPr>
            <a:r>
              <a:t>Unusual login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0208"/>
            <a:ext cx="2286000" cy="530352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126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072" y="4023360"/>
            <a:ext cx="2139696" cy="38404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092A4C"/>
                </a:solidFill>
                <a:latin typeface="Aptos"/>
              </a:defRPr>
            </a:pPr>
            <a:r>
              <a:t>Password failure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2514600"/>
            <a:ext cx="2057400" cy="914400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26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19272" y="2587752"/>
            <a:ext cx="1911095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092A4C"/>
                </a:solidFill>
                <a:latin typeface="Aptos"/>
              </a:defRPr>
            </a:pPr>
            <a:r>
              <a:t>Rule-Based</a:t>
            </a:r>
            <a:br/>
            <a:r>
              <a:t>Risk 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2514600"/>
            <a:ext cx="2057400" cy="914400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E7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88152" y="2587752"/>
            <a:ext cx="1911095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092A4C"/>
                </a:solidFill>
                <a:latin typeface="Aptos"/>
              </a:defRPr>
            </a:pPr>
            <a:r>
              <a:t>AI Risk</a:t>
            </a:r>
            <a:br/>
            <a:r>
              <a:t>(Random Forest)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88920" y="2788920"/>
            <a:ext cx="411480" cy="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788920" y="2788920"/>
            <a:ext cx="411480" cy="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88920" y="1371600"/>
            <a:ext cx="411480" cy="150876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88920" y="2084831"/>
            <a:ext cx="411480" cy="795529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788920" y="2798064"/>
            <a:ext cx="411480" cy="82296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788920" y="2880360"/>
            <a:ext cx="411480" cy="630936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788920" y="2880360"/>
            <a:ext cx="411480" cy="1344168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03520" y="2971800"/>
            <a:ext cx="365760" cy="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303520" y="2971800"/>
            <a:ext cx="365760" cy="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29600" y="2514600"/>
            <a:ext cx="1783080" cy="914400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009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02752" y="2587752"/>
            <a:ext cx="163677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092A4C"/>
                </a:solidFill>
                <a:latin typeface="Aptos"/>
              </a:defRPr>
            </a:pPr>
            <a:r>
              <a:t>Hybrid Risk</a:t>
            </a:r>
            <a:br/>
            <a:r>
              <a:t>Level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818120" y="2971800"/>
            <a:ext cx="365759" cy="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378440" y="1554480"/>
            <a:ext cx="1234440" cy="658368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26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51592" y="1627632"/>
            <a:ext cx="1088136" cy="5120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092A4C"/>
                </a:solidFill>
                <a:latin typeface="Aptos"/>
              </a:defRPr>
            </a:pPr>
            <a:r>
              <a:t>LOW</a:t>
            </a:r>
            <a:br/>
            <a:r>
              <a:t>ALLOW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78440" y="2514600"/>
            <a:ext cx="1234440" cy="658368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E7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451592" y="2587752"/>
            <a:ext cx="1088136" cy="5120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092A4C"/>
                </a:solidFill>
                <a:latin typeface="Aptos"/>
              </a:defRPr>
            </a:pPr>
            <a:r>
              <a:t>MEDIUM</a:t>
            </a:r>
            <a:br/>
            <a:r>
              <a:t>MFA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78440" y="3474720"/>
            <a:ext cx="1234440" cy="658368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CD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51592" y="3547872"/>
            <a:ext cx="1088136" cy="5120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092A4C"/>
                </a:solidFill>
                <a:latin typeface="Aptos"/>
              </a:defRPr>
            </a:pPr>
            <a:r>
              <a:t>HIGH</a:t>
            </a:r>
            <a:br/>
            <a:r>
              <a:t>DENY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10012680" y="1874519"/>
            <a:ext cx="301752" cy="1097281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012680" y="2834640"/>
            <a:ext cx="301752" cy="13716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012680" y="2971800"/>
            <a:ext cx="301752" cy="82296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C"/>
                </a:solidFill>
                <a:latin typeface="Aptos"/>
              </a:defRPr>
            </a:pPr>
            <a:r>
              <a:t>SOA Project Review – 2   |   AI-Powered Adaptive MFA &amp; Access Control System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9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Authentication &amp; MFA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148840" cy="146304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73152" cy="1463040"/>
          </a:xfrm>
          <a:prstGeom prst="rect">
            <a:avLst/>
          </a:prstGeom>
          <a:solidFill>
            <a:srgbClr val="12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938528"/>
            <a:ext cx="1856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31720"/>
            <a:ext cx="185623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D3A"/>
                </a:solidFill>
                <a:latin typeface="Aptos"/>
              </a:defRPr>
            </a:pPr>
            <a:r>
              <a:t>Username + password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6040" y="2560320"/>
            <a:ext cx="365760" cy="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63240" y="1828800"/>
            <a:ext cx="2148840" cy="146304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63240" y="1828800"/>
            <a:ext cx="73152" cy="1463040"/>
          </a:xfrm>
          <a:prstGeom prst="rect">
            <a:avLst/>
          </a:prstGeom>
          <a:solidFill>
            <a:srgbClr val="00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27832" y="1938528"/>
            <a:ext cx="1856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2331720"/>
            <a:ext cx="185623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D3A"/>
                </a:solidFill>
                <a:latin typeface="Aptos"/>
              </a:defRPr>
            </a:pPr>
            <a:r>
              <a:t>Device + location + time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12080" y="2560320"/>
            <a:ext cx="365760" cy="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69280" y="1828800"/>
            <a:ext cx="2148840" cy="146304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0" y="1828800"/>
            <a:ext cx="73152" cy="1463040"/>
          </a:xfrm>
          <a:prstGeom prst="rect">
            <a:avLst/>
          </a:prstGeom>
          <a:solidFill>
            <a:srgbClr val="E7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33872" y="1938528"/>
            <a:ext cx="1856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2331720"/>
            <a:ext cx="185623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D3A"/>
                </a:solidFill>
                <a:latin typeface="Aptos"/>
              </a:defRPr>
            </a:pPr>
            <a:r>
              <a:t>Rule + AI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18120" y="2560320"/>
            <a:ext cx="365760" cy="0"/>
          </a:xfrm>
          <a:prstGeom prst="line">
            <a:avLst/>
          </a:prstGeom>
          <a:ln w="25400">
            <a:solidFill>
              <a:srgbClr val="12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75320" y="1828800"/>
            <a:ext cx="2148840" cy="146304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75320" y="1828800"/>
            <a:ext cx="73152" cy="1463040"/>
          </a:xfrm>
          <a:prstGeom prst="rect">
            <a:avLst/>
          </a:prstGeom>
          <a:solidFill>
            <a:srgbClr val="26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9912" y="1938528"/>
            <a:ext cx="1856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2331720"/>
            <a:ext cx="185623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D3A"/>
                </a:solidFill>
                <a:latin typeface="Aptos"/>
              </a:defRPr>
            </a:pPr>
            <a:r>
              <a:t>LOW / MEDIUM / HIGH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4114800"/>
            <a:ext cx="1417320" cy="658368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26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68512" y="4187952"/>
            <a:ext cx="1271016" cy="5120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092A4C"/>
                </a:solidFill>
                <a:latin typeface="Aptos"/>
              </a:defRPr>
            </a:pPr>
            <a:r>
              <a:t>LOW → ALLOW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4114800"/>
            <a:ext cx="1417320" cy="658368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E7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77272" y="4187952"/>
            <a:ext cx="1271016" cy="5120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092A4C"/>
                </a:solidFill>
                <a:latin typeface="Aptos"/>
              </a:defRPr>
            </a:pPr>
            <a:r>
              <a:t>MEDIUM → OTP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4937760"/>
            <a:ext cx="1417320" cy="658368"/>
          </a:xfrm>
          <a:prstGeom prst="roundRect">
            <a:avLst/>
          </a:prstGeom>
          <a:solidFill>
            <a:srgbClr val="F1F7FC"/>
          </a:solidFill>
          <a:ln w="19050">
            <a:solidFill>
              <a:srgbClr val="CD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68512" y="5010912"/>
            <a:ext cx="1271016" cy="5120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092A4C"/>
                </a:solidFill>
                <a:latin typeface="Aptos"/>
              </a:defRPr>
            </a:pPr>
            <a:r>
              <a:t>HIGH → DENY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3977639"/>
            <a:ext cx="7132320" cy="141732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400" y="3977639"/>
            <a:ext cx="73152" cy="1417320"/>
          </a:xfrm>
          <a:prstGeom prst="rect">
            <a:avLst/>
          </a:prstGeom>
          <a:solidFill>
            <a:srgbClr val="12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78992" y="4087368"/>
            <a:ext cx="6839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MFA implementation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4480559"/>
            <a:ext cx="683971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D3A"/>
                </a:solidFill>
                <a:latin typeface="Aptos"/>
              </a:defRPr>
            </a:pPr>
            <a:r>
              <a:t>When the access decision requires step-up authentication, an OTP is generated, expiry/attempt limits are enforced, and successful verification creates the authenticated session.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C"/>
                </a:solidFill>
                <a:latin typeface="Aptos"/>
              </a:defRPr>
            </a:pPr>
            <a:r>
              <a:t>SOA Project Review – 2   |   AI-Powered Adaptive MFA &amp; Access Control System   |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9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Backend Implementation – Spring Boot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03520" cy="448056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73152" cy="4480560"/>
          </a:xfrm>
          <a:prstGeom prst="rect">
            <a:avLst/>
          </a:prstGeom>
          <a:solidFill>
            <a:srgbClr val="12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252728"/>
            <a:ext cx="5010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Core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45920"/>
            <a:ext cx="5010912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D3A"/>
                </a:solidFill>
                <a:latin typeface="Aptos"/>
              </a:defRPr>
            </a:pPr>
            <a:r>
              <a:t>• AuthenticationService – login and MFA workflow</a:t>
            </a:r>
            <a:br/>
            <a:r>
              <a:t>• RiskAssessmentService – hybrid risk assessment</a:t>
            </a:r>
            <a:br/>
            <a:r>
              <a:t>• DeviceTrustService – trusted-device checks</a:t>
            </a:r>
            <a:br/>
            <a:r>
              <a:t>• LocationRiskService – coordinate/radius checks</a:t>
            </a:r>
            <a:br/>
            <a:r>
              <a:t>• LoginBehaviorService – login-time risk</a:t>
            </a:r>
            <a:br/>
            <a:r>
              <a:t>• MFAService – OTP generation/verification</a:t>
            </a:r>
            <a:br/>
            <a:r>
              <a:t>• AccessDecisionService – ALLOW / MFA / DENY</a:t>
            </a:r>
            <a:br/>
            <a:r>
              <a:t>• AuditLogService – persistent security evidence</a:t>
            </a:r>
            <a:br/>
            <a:r>
              <a:t>• AccountSecurityService – failed attempts / lockout</a:t>
            </a:r>
            <a:br/>
            <a:r>
              <a:t>• AIService – FastAPI communication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43000"/>
            <a:ext cx="5303520" cy="448056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73152" cy="4480560"/>
          </a:xfrm>
          <a:prstGeom prst="rect">
            <a:avLst/>
          </a:prstGeom>
          <a:solidFill>
            <a:srgbClr val="00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252728"/>
            <a:ext cx="5010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1645920"/>
            <a:ext cx="5010912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02D3A"/>
                </a:solidFill>
                <a:latin typeface="Aptos"/>
              </a:defRPr>
            </a:pPr>
            <a:r>
              <a:t>Java 21</a:t>
            </a:r>
            <a:br/>
            <a:r>
              <a:t>Spring Boot 4.1.0</a:t>
            </a:r>
            <a:br/>
            <a:r>
              <a:t>Spring Security</a:t>
            </a:r>
            <a:br/>
            <a:r>
              <a:t>Spring Data JPA</a:t>
            </a:r>
            <a:br/>
            <a:r>
              <a:t>PostgreSQL</a:t>
            </a:r>
            <a:br/>
            <a:r>
              <a:t>REST APIs</a:t>
            </a:r>
            <a:br/>
            <a:r>
              <a:t>BCrypt password hashing</a:t>
            </a:r>
            <a:br/>
            <a:r>
              <a:t>FastAPI Random Forest AI service</a:t>
            </a:r>
            <a:br/>
            <a:br/>
            <a:r>
              <a:t>The service-oriented design keeps authentication, risk, MFA and auditing modular.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C"/>
                </a:solidFill>
                <a:latin typeface="Aptos"/>
              </a:defRPr>
            </a:pPr>
            <a:r>
              <a:t>SOA Project Review – 2   |   AI-Powered Adaptive MFA &amp; Access Control System   |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9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Frontend Implementation – React + Vite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657600" cy="438912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73152" cy="4389120"/>
          </a:xfrm>
          <a:prstGeom prst="rect">
            <a:avLst/>
          </a:prstGeom>
          <a:solidFill>
            <a:srgbClr val="00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344168"/>
            <a:ext cx="3364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Component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737360"/>
            <a:ext cx="3364992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02D3A"/>
                </a:solidFill>
                <a:latin typeface="Aptos"/>
              </a:defRPr>
            </a:pPr>
            <a:r>
              <a:t>LoginForm.jsx</a:t>
            </a:r>
            <a:br/>
            <a:r>
              <a:t>MFAVerification.jsx</a:t>
            </a:r>
            <a:br/>
            <a:r>
              <a:t>SecurityDashboard.jsx</a:t>
            </a:r>
            <a:br/>
            <a:r>
              <a:t>RiskSummary.jsx</a:t>
            </a:r>
            <a:br/>
            <a:r>
              <a:t>SecuritySuggestions.jsx</a:t>
            </a:r>
            <a:br/>
            <a:r>
              <a:t>SecurityFactors.jsx</a:t>
            </a:r>
            <a:br/>
            <a:r>
              <a:t>TrustedDevices.jsx</a:t>
            </a:r>
            <a:br/>
            <a:r>
              <a:t>TrustedLocations.jsx</a:t>
            </a:r>
            <a:br/>
            <a:r>
              <a:t>TrustedLoginTimes.jsx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34440"/>
            <a:ext cx="3337560" cy="438912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234440"/>
            <a:ext cx="73152" cy="4389120"/>
          </a:xfrm>
          <a:prstGeom prst="rect">
            <a:avLst/>
          </a:prstGeom>
          <a:solidFill>
            <a:srgbClr val="12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1" y="1344168"/>
            <a:ext cx="3044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1737360"/>
            <a:ext cx="3044952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D3A"/>
                </a:solidFill>
                <a:latin typeface="Aptos"/>
              </a:defRPr>
            </a:pPr>
            <a:r>
              <a:t>authService.js</a:t>
            </a:r>
            <a:br/>
            <a:r>
              <a:t>• login()</a:t>
            </a:r>
            <a:br/>
            <a:r>
              <a:t>• verifyMFA()</a:t>
            </a:r>
            <a:br/>
            <a:r>
              <a:t>• rememberDevice()</a:t>
            </a:r>
            <a:br/>
            <a:r>
              <a:t>• rememberLocation()</a:t>
            </a:r>
            <a:br/>
            <a:r>
              <a:t>• rememberLoginTime()</a:t>
            </a:r>
            <a:br/>
            <a:br/>
            <a:r>
              <a:t>deviceService.js</a:t>
            </a:r>
            <a:br/>
            <a:r>
              <a:t>locationService.js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234440"/>
            <a:ext cx="3611880" cy="438912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234440"/>
            <a:ext cx="73152" cy="4389120"/>
          </a:xfrm>
          <a:prstGeom prst="rect">
            <a:avLst/>
          </a:prstGeom>
          <a:solidFill>
            <a:srgbClr val="26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65592" y="1344168"/>
            <a:ext cx="33192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Frontend behavior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1737360"/>
            <a:ext cx="3319272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D3A"/>
                </a:solidFill>
                <a:latin typeface="Aptos"/>
              </a:defRPr>
            </a:pPr>
            <a:r>
              <a:t>• Captures browser device ID</a:t>
            </a:r>
            <a:br/>
            <a:r>
              <a:t>• Requests browser geolocation</a:t>
            </a:r>
            <a:br/>
            <a:r>
              <a:t>• Sends login context to backend</a:t>
            </a:r>
            <a:br/>
            <a:r>
              <a:t>• Displays risk + AI output</a:t>
            </a:r>
            <a:br/>
            <a:r>
              <a:t>• Shows MFA challenge</a:t>
            </a:r>
            <a:br/>
            <a:r>
              <a:t>• Manages trusted factors</a:t>
            </a:r>
            <a:br/>
            <a:r>
              <a:t>• Loads/removes saved factors</a:t>
            </a:r>
            <a:br/>
            <a:r>
              <a:t>• Presents security suggestions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C"/>
                </a:solidFill>
                <a:latin typeface="Aptos"/>
              </a:defRPr>
            </a:pPr>
            <a:r>
              <a:t>SOA Project Review – 2   |   AI-Powered Adaptive MFA &amp; Access Control System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9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Frontend Execution – Login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C"/>
                </a:solidFill>
                <a:latin typeface="Aptos"/>
              </a:defRPr>
            </a:pPr>
            <a:r>
              <a:t>SOA Project Review – 2   |   AI-Powered Adaptive MFA &amp; Access Control System   |   11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09CA94-5051-EB1E-5712-B974DE202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768096"/>
            <a:ext cx="10571617" cy="59496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9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Frontend Execution – MFA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94960"/>
            <a:ext cx="10789920" cy="6400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73152" cy="640080"/>
          </a:xfrm>
          <a:prstGeom prst="rect">
            <a:avLst/>
          </a:prstGeom>
          <a:solidFill>
            <a:srgbClr val="E7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7191" y="5344668"/>
            <a:ext cx="10497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Execution 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5724144"/>
            <a:ext cx="10497312" cy="1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D3A"/>
                </a:solidFill>
                <a:latin typeface="Aptos"/>
              </a:defRPr>
            </a:pPr>
            <a:r>
              <a:rPr dirty="0"/>
              <a:t>MFA_REQUIRED response → OTP entry → /auth/verify-</a:t>
            </a:r>
            <a:r>
              <a:rPr dirty="0" err="1"/>
              <a:t>mfa</a:t>
            </a:r>
            <a:r>
              <a:rPr dirty="0"/>
              <a:t> → AUTHENTICATED → authenticated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C"/>
                </a:solidFill>
                <a:latin typeface="Aptos"/>
              </a:defRPr>
            </a:pPr>
            <a:r>
              <a:t>SOA Project Review – 2   |   AI-Powered Adaptive MFA &amp; Access Control System   |   12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C0A277-21DD-3925-5AF1-29A0AC0D9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367" y="708660"/>
            <a:ext cx="9189529" cy="45765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9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Frontend Execution – Security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C"/>
                </a:solidFill>
                <a:latin typeface="Aptos"/>
              </a:defRPr>
            </a:pPr>
            <a:r>
              <a:t>SOA Project Review – 2   |   AI-Powered Adaptive MFA &amp; Access Control System   |   13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48FF0D-2D21-8E51-A55C-85F169C37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71" y="768096"/>
            <a:ext cx="10707433" cy="56327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9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Trusted Security Factors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0515600" cy="73152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5349240"/>
            <a:ext cx="73152" cy="731520"/>
          </a:xfrm>
          <a:prstGeom prst="rect">
            <a:avLst/>
          </a:prstGeom>
          <a:solidFill>
            <a:srgbClr val="CD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5458968"/>
            <a:ext cx="10222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Security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5852159"/>
            <a:ext cx="1022299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D3A"/>
                </a:solidFill>
                <a:latin typeface="Aptos"/>
              </a:defRPr>
            </a:pPr>
            <a:r>
              <a:t>Adding a new trusted factor is protected by recent authentication / MFA verification in the intended secure design.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C"/>
                </a:solidFill>
                <a:latin typeface="Aptos"/>
              </a:defRPr>
            </a:pPr>
            <a:r>
              <a:t>SOA Project Review – 2   |   AI-Powered Adaptive MFA &amp; Access Control System   |   14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3826560-0DBA-439C-333D-355F01F93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68097"/>
            <a:ext cx="10762488" cy="43251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6D5802-C07A-5940-7D7B-FE6279160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083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EF36E2-EB0D-2D86-9992-71D07615C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314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9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PostgreSQL Persistence &amp; Audit Logging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03520" cy="42976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73152" cy="4297680"/>
          </a:xfrm>
          <a:prstGeom prst="rect">
            <a:avLst/>
          </a:prstGeom>
          <a:solidFill>
            <a:srgbClr val="12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344168"/>
            <a:ext cx="5010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Persistence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737360"/>
            <a:ext cx="5010912" cy="3675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D3A"/>
                </a:solidFill>
                <a:latin typeface="Aptos"/>
              </a:defRPr>
            </a:pPr>
            <a:r>
              <a:t>Spring Data JPA is used to persist security state and audit evidence.</a:t>
            </a:r>
            <a:br/>
            <a:br/>
            <a:r>
              <a:t>Examples:</a:t>
            </a:r>
            <a:br/>
            <a:r>
              <a:t>• users</a:t>
            </a:r>
            <a:br/>
            <a:r>
              <a:t>• trusted devices</a:t>
            </a:r>
            <a:br/>
            <a:r>
              <a:t>• trusted locations</a:t>
            </a:r>
            <a:br/>
            <a:r>
              <a:t>• trusted login times</a:t>
            </a:r>
            <a:br/>
            <a:r>
              <a:t>• authentication / audit records</a:t>
            </a:r>
            <a:br/>
            <a:r>
              <a:t>• failed-attempt / account-security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303520" cy="42976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73152" cy="4297680"/>
          </a:xfrm>
          <a:prstGeom prst="rect">
            <a:avLst/>
          </a:prstGeom>
          <a:solidFill>
            <a:srgbClr val="00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344168"/>
            <a:ext cx="5010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Audit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1737360"/>
            <a:ext cx="5010912" cy="3675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D3A"/>
                </a:solidFill>
                <a:latin typeface="Aptos"/>
              </a:defRPr>
            </a:pPr>
            <a:r>
              <a:t>Authentication events capture security-relevant context such as:</a:t>
            </a:r>
            <a:br/>
            <a:r>
              <a:t>• username</a:t>
            </a:r>
            <a:br/>
            <a:r>
              <a:t>• device identifier</a:t>
            </a:r>
            <a:br/>
            <a:r>
              <a:t>• location / accuracy where available</a:t>
            </a:r>
            <a:br/>
            <a:r>
              <a:t>• failed-attempt count</a:t>
            </a:r>
            <a:br/>
            <a:r>
              <a:t>• rule score</a:t>
            </a:r>
            <a:br/>
            <a:r>
              <a:t>• risk level</a:t>
            </a:r>
            <a:br/>
            <a:r>
              <a:t>• final decision / event type</a:t>
            </a:r>
            <a:br/>
            <a:br/>
            <a:r>
              <a:t>Audit history remains separate from the resettable failed-attempt state.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C"/>
                </a:solidFill>
                <a:latin typeface="Aptos"/>
              </a:defRPr>
            </a:pPr>
            <a:r>
              <a:t>SOA Project Review – 2   |   AI-Powered Adaptive MFA &amp; Access Control System   |   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9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API / System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474720" cy="448056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73152" cy="4480560"/>
          </a:xfrm>
          <a:prstGeom prst="rect">
            <a:avLst/>
          </a:prstGeom>
          <a:solidFill>
            <a:srgbClr val="12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298448"/>
            <a:ext cx="31821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Authentication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91640"/>
            <a:ext cx="3182112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02D3A"/>
                </a:solidFill>
                <a:latin typeface="Aptos"/>
              </a:defRPr>
            </a:pPr>
            <a:r>
              <a:t>POST /auth/login</a:t>
            </a:r>
            <a:br/>
            <a:r>
              <a:t>POST /auth/verify-mfa</a:t>
            </a:r>
            <a:br/>
            <a:r>
              <a:t>POST /auth/change-password</a:t>
            </a:r>
            <a:br/>
            <a:r>
              <a:t>POST /auth/forgot-password</a:t>
            </a:r>
            <a:br/>
            <a:r>
              <a:t>POST /auth/reset-password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188720"/>
            <a:ext cx="3474720" cy="448056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188720"/>
            <a:ext cx="73152" cy="4480560"/>
          </a:xfrm>
          <a:prstGeom prst="rect">
            <a:avLst/>
          </a:prstGeom>
          <a:solidFill>
            <a:srgbClr val="00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1298448"/>
            <a:ext cx="31821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Security-factor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691640"/>
            <a:ext cx="3182112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D3A"/>
                </a:solidFill>
                <a:latin typeface="Aptos"/>
              </a:defRPr>
            </a:pPr>
            <a:r>
              <a:t>POST /security/devices/remember</a:t>
            </a:r>
            <a:br/>
            <a:r>
              <a:t>GET /security/devices</a:t>
            </a:r>
            <a:br/>
            <a:r>
              <a:t>DELETE /security/devices/{id}</a:t>
            </a:r>
            <a:br/>
            <a:br/>
            <a:r>
              <a:t>POST /security/locations</a:t>
            </a:r>
            <a:br/>
            <a:r>
              <a:t>GET /security/locations</a:t>
            </a:r>
            <a:br/>
            <a:r>
              <a:t>DELETE /security/locations/{lat}/{lon}</a:t>
            </a:r>
            <a:br/>
            <a:br/>
            <a:r>
              <a:t>POST /security/login-times/remember</a:t>
            </a:r>
            <a:br/>
            <a:r>
              <a:t>GET /security/login-times</a:t>
            </a:r>
            <a:br/>
            <a:r>
              <a:t>DELETE /security/login-times/{id}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3474720" cy="448056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73152" cy="4480560"/>
          </a:xfrm>
          <a:prstGeom prst="rect">
            <a:avLst/>
          </a:prstGeom>
          <a:solidFill>
            <a:srgbClr val="E7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298448"/>
            <a:ext cx="31821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AI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691640"/>
            <a:ext cx="3182112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D3A"/>
                </a:solidFill>
                <a:latin typeface="Aptos"/>
              </a:defRPr>
            </a:pPr>
            <a:r>
              <a:t>POST http://127.0.0.1:8000/predict</a:t>
            </a:r>
            <a:br/>
            <a:br/>
            <a:r>
              <a:t>Spring Boot AIService:</a:t>
            </a:r>
            <a:br/>
            <a:r>
              <a:t>1. Builds AIPredictionRequest</a:t>
            </a:r>
            <a:br/>
            <a:r>
              <a:t>2. Serializes JSON</a:t>
            </a:r>
            <a:br/>
            <a:r>
              <a:t>3. Sends HTTP POST</a:t>
            </a:r>
            <a:br/>
            <a:r>
              <a:t>4. Reads response</a:t>
            </a:r>
            <a:br/>
            <a:r>
              <a:t>5. Passes AI risk/probabilities to the risk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C"/>
                </a:solidFill>
                <a:latin typeface="Aptos"/>
              </a:defRPr>
            </a:pPr>
            <a:r>
              <a:t>SOA Project Review – 2   |   AI-Powered Adaptive MFA &amp; Access Control System   |   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9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Current Project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212080" cy="6400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73152" cy="640080"/>
          </a:xfrm>
          <a:prstGeom prst="rect">
            <a:avLst/>
          </a:prstGeom>
          <a:solidFill>
            <a:srgbClr val="26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252728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Authentication &amp; password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645920"/>
            <a:ext cx="4919472" cy="1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43000"/>
            <a:ext cx="5212080" cy="6400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143000"/>
            <a:ext cx="73152" cy="640080"/>
          </a:xfrm>
          <a:prstGeom prst="rect">
            <a:avLst/>
          </a:prstGeom>
          <a:solidFill>
            <a:srgbClr val="26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1252728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Failed-attempt tracking / lockout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645920"/>
            <a:ext cx="4919472" cy="1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947672"/>
            <a:ext cx="5212080" cy="6400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1947672"/>
            <a:ext cx="73152" cy="640080"/>
          </a:xfrm>
          <a:prstGeom prst="rect">
            <a:avLst/>
          </a:prstGeom>
          <a:solidFill>
            <a:srgbClr val="26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2057400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Adaptive rule-based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450591"/>
            <a:ext cx="4919472" cy="1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947672"/>
            <a:ext cx="5212080" cy="6400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1947672"/>
            <a:ext cx="73152" cy="640080"/>
          </a:xfrm>
          <a:prstGeom prst="rect">
            <a:avLst/>
          </a:prstGeom>
          <a:solidFill>
            <a:srgbClr val="26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Device / location / login-time 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450591"/>
            <a:ext cx="4919472" cy="1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752344"/>
            <a:ext cx="5212080" cy="6400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2752344"/>
            <a:ext cx="73152" cy="640080"/>
          </a:xfrm>
          <a:prstGeom prst="rect">
            <a:avLst/>
          </a:prstGeom>
          <a:solidFill>
            <a:srgbClr val="26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2862072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OTP MFA + access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3255263"/>
            <a:ext cx="4919472" cy="1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752344"/>
            <a:ext cx="5212080" cy="6400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2752344"/>
            <a:ext cx="73152" cy="640080"/>
          </a:xfrm>
          <a:prstGeom prst="rect">
            <a:avLst/>
          </a:prstGeom>
          <a:solidFill>
            <a:srgbClr val="26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3952" y="2862072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PostgreSQL persistence + 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3255263"/>
            <a:ext cx="4919472" cy="1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3557016"/>
            <a:ext cx="5212080" cy="6400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4360" y="3557016"/>
            <a:ext cx="73152" cy="640080"/>
          </a:xfrm>
          <a:prstGeom prst="rect">
            <a:avLst/>
          </a:prstGeom>
          <a:solidFill>
            <a:srgbClr val="26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952" y="3666744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React login / MFA /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4059936"/>
            <a:ext cx="4919472" cy="1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  <a:latin typeface="Aptos"/>
              </a:defRPr>
            </a:pPr>
            <a:r>
              <a:t>Implemented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557016"/>
            <a:ext cx="5212080" cy="6400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9360" y="3557016"/>
            <a:ext cx="73152" cy="640080"/>
          </a:xfrm>
          <a:prstGeom prst="rect">
            <a:avLst/>
          </a:prstGeom>
          <a:solidFill>
            <a:srgbClr val="E7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3666744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AI FastAPI + Random Forest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4059936"/>
            <a:ext cx="4919472" cy="1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  <a:latin typeface="Aptos"/>
              </a:defRPr>
            </a:pPr>
            <a:r>
              <a:t>Integrated / in progress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361688"/>
            <a:ext cx="5212080" cy="6400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94360" y="4361688"/>
            <a:ext cx="73152" cy="640080"/>
          </a:xfrm>
          <a:prstGeom prst="rect">
            <a:avLst/>
          </a:prstGeom>
          <a:solidFill>
            <a:srgbClr val="E7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8952" y="4471416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Password reset UI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" y="4864607"/>
            <a:ext cx="4919472" cy="1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4361688"/>
            <a:ext cx="5212080" cy="6400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09360" y="4361688"/>
            <a:ext cx="73152" cy="640080"/>
          </a:xfrm>
          <a:prstGeom prst="rect">
            <a:avLst/>
          </a:prstGeom>
          <a:solidFill>
            <a:srgbClr val="E7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73952" y="4471416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Admin dashboard + audit UI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3952" y="4864607"/>
            <a:ext cx="4919472" cy="1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5166360"/>
            <a:ext cx="5212080" cy="6400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94360" y="5166360"/>
            <a:ext cx="73152" cy="640080"/>
          </a:xfrm>
          <a:prstGeom prst="rect">
            <a:avLst/>
          </a:prstGeom>
          <a:solidFill>
            <a:srgbClr val="CD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58952" y="5276088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DevSecOps CI/CD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" y="5669280"/>
            <a:ext cx="4919472" cy="1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  <a:latin typeface="Aptos"/>
              </a:defRPr>
            </a:pPr>
            <a:r>
              <a:t>Pending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60" y="5166360"/>
            <a:ext cx="5212080" cy="6400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309360" y="5166360"/>
            <a:ext cx="73152" cy="640080"/>
          </a:xfrm>
          <a:prstGeom prst="rect">
            <a:avLst/>
          </a:prstGeom>
          <a:solidFill>
            <a:srgbClr val="E7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73952" y="5276088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End-to-end security testing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73952" y="5669280"/>
            <a:ext cx="4919472" cy="1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  <a:latin typeface="Aptos"/>
              </a:defRPr>
            </a:pPr>
            <a:r>
              <a:t>In progress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C"/>
                </a:solidFill>
                <a:latin typeface="Aptos"/>
              </a:defRPr>
            </a:pPr>
            <a:r>
              <a:t>SOA Project Review – 2   |   AI-Powered Adaptive MFA &amp; Access Control System   |   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9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Testing &amp; Demonstration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212080" cy="96012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73152" cy="960120"/>
          </a:xfrm>
          <a:prstGeom prst="rect">
            <a:avLst/>
          </a:prstGeom>
          <a:solidFill>
            <a:srgbClr val="26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252728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Valid credentials + trusted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645920"/>
            <a:ext cx="491947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  <a:latin typeface="Aptos"/>
              </a:defRPr>
            </a:pPr>
            <a:r>
              <a:t>Expected: LOW / authentication allowed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43000"/>
            <a:ext cx="5212080" cy="96012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143000"/>
            <a:ext cx="73152" cy="960120"/>
          </a:xfrm>
          <a:prstGeom prst="rect">
            <a:avLst/>
          </a:prstGeom>
          <a:solidFill>
            <a:srgbClr val="E7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1252728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Valid credentials + medium-risk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645920"/>
            <a:ext cx="491947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  <a:latin typeface="Aptos"/>
              </a:defRPr>
            </a:pPr>
            <a:r>
              <a:t>Expected: MFA_REQUIRED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286000"/>
            <a:ext cx="5212080" cy="96012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2286000"/>
            <a:ext cx="73152" cy="960120"/>
          </a:xfrm>
          <a:prstGeom prst="rect">
            <a:avLst/>
          </a:prstGeom>
          <a:solidFill>
            <a:srgbClr val="CD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2395728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High-risk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788920"/>
            <a:ext cx="491947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  <a:latin typeface="Aptos"/>
              </a:defRPr>
            </a:pPr>
            <a:r>
              <a:t>Expected: ACCESS DENIED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286000"/>
            <a:ext cx="5212080" cy="96012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2286000"/>
            <a:ext cx="73152" cy="960120"/>
          </a:xfrm>
          <a:prstGeom prst="rect">
            <a:avLst/>
          </a:prstGeom>
          <a:solidFill>
            <a:srgbClr val="12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2395728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Wrong password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788920"/>
            <a:ext cx="491947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  <a:latin typeface="Aptos"/>
              </a:defRPr>
            </a:pPr>
            <a:r>
              <a:t>Expected: failed attempt recorded; no direct authentication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429000"/>
            <a:ext cx="5212080" cy="96012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429000"/>
            <a:ext cx="73152" cy="960120"/>
          </a:xfrm>
          <a:prstGeom prst="rect">
            <a:avLst/>
          </a:prstGeom>
          <a:solidFill>
            <a:srgbClr val="26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3538728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Correct OTP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3931920"/>
            <a:ext cx="491947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  <a:latin typeface="Aptos"/>
              </a:defRPr>
            </a:pPr>
            <a:r>
              <a:t>Expected: authenticated session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429000"/>
            <a:ext cx="5212080" cy="96012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3429000"/>
            <a:ext cx="73152" cy="960120"/>
          </a:xfrm>
          <a:prstGeom prst="rect">
            <a:avLst/>
          </a:prstGeom>
          <a:solidFill>
            <a:srgbClr val="E7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3952" y="3538728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Wrong / expired OTP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3931920"/>
            <a:ext cx="491947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  <a:latin typeface="Aptos"/>
              </a:defRPr>
            </a:pPr>
            <a:r>
              <a:t>Expected: access denied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572000"/>
            <a:ext cx="5212080" cy="96012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4360" y="4572000"/>
            <a:ext cx="73152" cy="960120"/>
          </a:xfrm>
          <a:prstGeom prst="rect">
            <a:avLst/>
          </a:prstGeom>
          <a:solidFill>
            <a:srgbClr val="CD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952" y="4681728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Trusted device / location / time APIs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5074920"/>
            <a:ext cx="491947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  <a:latin typeface="Aptos"/>
              </a:defRPr>
            </a:pPr>
            <a:r>
              <a:t>Expected: add, list and remove operations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572000"/>
            <a:ext cx="5212080" cy="96012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9360" y="4572000"/>
            <a:ext cx="73152" cy="960120"/>
          </a:xfrm>
          <a:prstGeom prst="rect">
            <a:avLst/>
          </a:prstGeom>
          <a:solidFill>
            <a:srgbClr val="12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4681728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Audit logging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5074920"/>
            <a:ext cx="491947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D3A"/>
                </a:solidFill>
                <a:latin typeface="Aptos"/>
              </a:defRPr>
            </a:pPr>
            <a:r>
              <a:t>Expected: authentication events persisted for investigation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C"/>
                </a:solidFill>
                <a:latin typeface="Aptos"/>
              </a:defRPr>
            </a:pPr>
            <a:r>
              <a:t>SOA Project Review – 2   |   AI-Powered Adaptive MFA &amp; Access Control System   |   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9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Challenges &amp;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212080" cy="13258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73152" cy="1325880"/>
          </a:xfrm>
          <a:prstGeom prst="rect">
            <a:avLst/>
          </a:prstGeom>
          <a:solidFill>
            <a:srgbClr val="12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252728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AI/backend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645920"/>
            <a:ext cx="491947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D3A"/>
                </a:solidFill>
                <a:latin typeface="Aptos"/>
              </a:defRPr>
            </a:pPr>
            <a:r>
              <a:t>Dedicated AIService and DTO contract between Spring Boot and FastAPI.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43000"/>
            <a:ext cx="5212080" cy="13258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143000"/>
            <a:ext cx="73152" cy="1325880"/>
          </a:xfrm>
          <a:prstGeom prst="rect">
            <a:avLst/>
          </a:prstGeom>
          <a:solidFill>
            <a:srgbClr val="26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1252728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Risk transparency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645920"/>
            <a:ext cx="491947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D3A"/>
                </a:solidFill>
                <a:latin typeface="Aptos"/>
              </a:defRPr>
            </a:pPr>
            <a:r>
              <a:t>Rule-based scoring remains explainable while AI provides an additional signal.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743200"/>
            <a:ext cx="5212080" cy="13258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2743200"/>
            <a:ext cx="73152" cy="1325880"/>
          </a:xfrm>
          <a:prstGeom prst="rect">
            <a:avLst/>
          </a:prstGeom>
          <a:solidFill>
            <a:srgbClr val="E7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MFA state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246120"/>
            <a:ext cx="491947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D3A"/>
                </a:solidFill>
                <a:latin typeface="Aptos"/>
              </a:defRPr>
            </a:pPr>
            <a:r>
              <a:t>OTP expiry, verification limits and authentication-session handling.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743200"/>
            <a:ext cx="5212080" cy="13258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2743200"/>
            <a:ext cx="73152" cy="1325880"/>
          </a:xfrm>
          <a:prstGeom prst="rect">
            <a:avLst/>
          </a:prstGeom>
          <a:solidFill>
            <a:srgbClr val="00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2852928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Location 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246120"/>
            <a:ext cx="491947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D3A"/>
                </a:solidFill>
                <a:latin typeface="Aptos"/>
              </a:defRPr>
            </a:pPr>
            <a:r>
              <a:t>Coordinate + radius comparison with browser-provided accuracy.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343400"/>
            <a:ext cx="5212080" cy="13258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4343400"/>
            <a:ext cx="73152" cy="1325880"/>
          </a:xfrm>
          <a:prstGeom prst="rect">
            <a:avLst/>
          </a:prstGeom>
          <a:solidFill>
            <a:srgbClr val="12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4453128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Persistent security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846320"/>
            <a:ext cx="491947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D3A"/>
                </a:solidFill>
                <a:latin typeface="Aptos"/>
              </a:defRPr>
            </a:pPr>
            <a:r>
              <a:t>Audit history stored separately from resettable failed-attempt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343400"/>
            <a:ext cx="5212080" cy="132588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4343400"/>
            <a:ext cx="73152" cy="1325880"/>
          </a:xfrm>
          <a:prstGeom prst="rect">
            <a:avLst/>
          </a:prstGeom>
          <a:solidFill>
            <a:srgbClr val="26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3952" y="4453128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Frontend/backend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846320"/>
            <a:ext cx="491947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D3A"/>
                </a:solidFill>
                <a:latin typeface="Aptos"/>
              </a:defRPr>
            </a:pPr>
            <a:r>
              <a:t>React services send credentials and contextual security signals to REST APIs.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C"/>
                </a:solidFill>
                <a:latin typeface="Aptos"/>
              </a:defRPr>
            </a:pPr>
            <a:r>
              <a:t>SOA Project Review – 2   |   AI-Powered Adaptive MFA &amp; Access Control System   |   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Conclusion &amp;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212080" cy="411480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4114800"/>
          </a:xfrm>
          <a:prstGeom prst="rect">
            <a:avLst/>
          </a:prstGeom>
          <a:solidFill>
            <a:srgbClr val="00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Review-2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011680"/>
            <a:ext cx="4919472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02D3A"/>
                </a:solidFill>
                <a:latin typeface="Aptos"/>
              </a:defRPr>
            </a:pPr>
            <a:r>
              <a:t>✓ Adaptive authentication workflow</a:t>
            </a:r>
            <a:br/>
            <a:r>
              <a:t>✓ Contextual rule-based risk assessment</a:t>
            </a:r>
            <a:br/>
            <a:r>
              <a:t>✓ Device, location and login-time trust</a:t>
            </a:r>
            <a:br/>
            <a:r>
              <a:t>✓ OTP-based step-up MFA</a:t>
            </a:r>
            <a:br/>
            <a:r>
              <a:t>✓ PostgreSQL persistence and audit logging</a:t>
            </a:r>
            <a:br/>
            <a:r>
              <a:t>✓ React security dashboard</a:t>
            </a:r>
            <a:br/>
            <a:r>
              <a:t>✓ FastAPI AI integration</a:t>
            </a:r>
            <a:br/>
            <a:r>
              <a:t>✓ Trusted-factor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212080" cy="4114800"/>
          </a:xfrm>
          <a:prstGeom prst="roundRect">
            <a:avLst/>
          </a:prstGeom>
          <a:solidFill>
            <a:srgbClr val="F1F7FC"/>
          </a:solidFill>
          <a:ln>
            <a:solidFill>
              <a:srgbClr val="DA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508760"/>
            <a:ext cx="73152" cy="4114800"/>
          </a:xfrm>
          <a:prstGeom prst="rect">
            <a:avLst/>
          </a:prstGeom>
          <a:solidFill>
            <a:srgbClr val="E7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8231" y="1618488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92A4C"/>
                </a:solidFill>
                <a:latin typeface="Aptos Display"/>
              </a:defRPr>
            </a:pPr>
            <a:r>
              <a:t>Remaining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2011680"/>
            <a:ext cx="4919472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02D3A"/>
                </a:solidFill>
                <a:latin typeface="Aptos"/>
              </a:defRPr>
            </a:pPr>
            <a:r>
              <a:t>→ Finalize AI/rule integration and validate model results</a:t>
            </a:r>
            <a:br/>
            <a:r>
              <a:t>→ Add password change / reset UI</a:t>
            </a:r>
            <a:br/>
            <a:r>
              <a:t>→ Build admin and audit dashboards</a:t>
            </a:r>
            <a:br/>
            <a:r>
              <a:t>→ Improve OTP delivery</a:t>
            </a:r>
            <a:br/>
            <a:r>
              <a:t>→ Complete automated and security testing</a:t>
            </a:r>
            <a:br/>
            <a:r>
              <a:t>→ Add DevSecOps CI/CD, scanning and containerization</a:t>
            </a:r>
            <a:br/>
            <a:r>
              <a:t>→ Prepare final deployment and demonstration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5989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C"/>
                </a:solidFill>
                <a:latin typeface="Aptos"/>
              </a:defRPr>
            </a:pPr>
            <a:r>
              <a:t>SOA Project Review – 2   |   AI-Powered Adaptive MFA &amp; Access Control System   | 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1709</Words>
  <Application>Microsoft Office PowerPoint</Application>
  <PresentationFormat>Widescreen</PresentationFormat>
  <Paragraphs>230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Vasamsetti Durgaprasad</cp:lastModifiedBy>
  <cp:revision>2</cp:revision>
  <dcterms:created xsi:type="dcterms:W3CDTF">2013-01-27T09:14:16Z</dcterms:created>
  <dcterms:modified xsi:type="dcterms:W3CDTF">2026-09-22T03:43:36Z</dcterms:modified>
  <cp:category/>
</cp:coreProperties>
</file>